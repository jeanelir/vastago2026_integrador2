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E1B12"/>
                </a:solidFill>
                <a:latin typeface="Arial"/>
              </a:defRPr>
            </a:pPr>
            <a:r>
              <a:rPr sz="1600" b="0" i="0" u="none" strike="noStrike">
                <a:solidFill>
                  <a:srgbClr val="2E1B12"/>
                </a:solidFill>
                <a:latin typeface="Arial"/>
              </a:rPr>
              <a:t>43 controles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Controles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4F"/>
              </a:solidFill>
              <a:effectLst/>
            </c:spPr>
          </c:dPt>
          <c:dPt>
            <c:idx val="1"/>
            <c:bubble3D val="0"/>
            <c:spPr>
              <a:solidFill>
                <a:srgbClr val="C89B3C"/>
              </a:solidFill>
              <a:effectLst/>
            </c:spPr>
          </c:dPt>
          <c:dPt>
            <c:idx val="2"/>
            <c:bubble3D val="0"/>
            <c:spPr>
              <a:solidFill>
                <a:srgbClr val="7A6A5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Implementados</c:v>
                </c:pt>
                <c:pt idx="1">
                  <c:v>Parciales</c:v>
                </c:pt>
                <c:pt idx="2">
                  <c:v>Planificados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7</c:v>
                </c:pt>
                <c:pt idx="2">
                  <c:v>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B2A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E1B12"/>
                </a:solidFill>
                <a:latin typeface="Arial"/>
              </a:defRPr>
            </a:pPr>
            <a:r>
              <a:rPr sz="1500" b="0" i="0" u="none" strike="noStrike">
                <a:solidFill>
                  <a:srgbClr val="2E1B12"/>
                </a:solidFill>
                <a:latin typeface="Arial"/>
              </a:rPr>
              <a:t>Script OWASP propio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Verificaciones superadas (de 20)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2E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Antes de corregir</c:v>
                  </c:pt>
                  <c:pt idx="1">
                    <c:v>Después de corregir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2E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4DE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E1B12"/>
                </a:solidFill>
                <a:latin typeface="Arial"/>
              </a:defRPr>
            </a:pPr>
            <a:r>
              <a:rPr sz="1500" b="0" i="0" u="none" strike="noStrike">
                <a:solidFill>
                  <a:srgbClr val="2E1B12"/>
                </a:solidFill>
                <a:latin typeface="Arial"/>
              </a:rPr>
              <a:t>Tiempo en milisegundos (menor es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E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Primer contenido (FCP)</c:v>
                  </c:pt>
                  <c:pt idx="1">
                    <c:v>Carga completa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2812</c:v>
                </c:pt>
                <c:pt idx="1">
                  <c:v>2780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E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Primer contenido (FCP)</c:v>
                  </c:pt>
                  <c:pt idx="1">
                    <c:v>Carga completa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480</c:v>
                </c:pt>
                <c:pt idx="1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E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E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Jeaneli. Saludo, objetivo del avance: ejecutar el despliegue inicial con base de datos, seguridad y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expone sus aportes sin repetir al otro. Orden: observaciones → problema/modelo → arquitectura → BD → seguridad → pruebas → nube →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nueve observaciones de la docente Yovana Roca (12-sep) están resueltas en el informe; cada una indica la sección. En el Kanban, retrospectiva y cierre del Sprint 3 están en Por hacer porque el sprint sigue en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quiebres de stock, producción por experiencia, mermas sin trazabilidad, registros manuales. El TO-BE: stock en tiempo real por trigger, alertas, pronóstico a 3 meses, órdenes con receta, trazabilidad y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 React servida por Flask en el mismo origen; API REST con Flask+gunicorn; capa de servicios y repositorios; PostgreSQL 16; módulo de pronóstico en Python. Un solo contenedor Docker listo para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tablas, 73 columnas, 12 claves foráneas. Script schema.sql idéntico a la BD verificada con information_schema. Trigger fn_aplicar_movimiento mantiene el stock; CHECK impide stock negativo; auditoría con trigger que bloquea UPDATE/DELETE.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Repository porque aísla el SQL de las reglas de negocio, permite inyectar el cursor para transacciones y facilita probar. Frente a DAO puro, expresa operaciones del dominio; frente a un ORM, mantenemos control del SQL con un equipo pequeño.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Replicación streaming asíncrona primario 5433 → réplica 5434 con slot replica1_slot; lag 0 bytes; escritura en la réplica rechazada. Respaldo pg_dump -Fc con restauración verificada por conteo de filas. Monitoreo con consultas a pg_stat: caché 99.92 %. Honestidad: la réplica se demostró en local; en Render gratuito no hay réplica.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Contraseñas con bcrypt costo 12; JWT de 15 minutos con algoritmo fijado; refresh token opaco rotatorio en cookie HttpOnly SameSite=Strict y cabecera anti-CSRF; bloqueo tras 5 intentos; rate limiting; RBAC con 4 roles. 24 pruebas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 controles alineados con ISO/IEC 27001:2022, OWASP Top 10/ASVS y NIST. 30 implementados, 7 parciales, 6 planificados. AES-256-GCM para el teléfono; TLS en Render; trazabilidad con tabla de auditoría append-only. Observaciones propias reconocidas: TRUNCATE sobre auditoría no bloqueado, límite 72 bytes de bcrypt.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 OWASP WSTG con herramientas de Kali (nmap, nikto, sqlmap) instaladas en Linux, más script propio y bandit/pip-audit/npm audit. Hallazgos reales corregidos: cabecera Server, ETag con inodo, catch-all de la SPA, PyJWT 2.14.0 vulnerable → 2.15.1. Verificaciones propias 18/20 → 20/20. Pendiente: repetir sobre la URL de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pruebas estructurado con matriz RF/RNF, 54 casos: 24 automáticos pytest, UAT por rol, rendimiento y seguridad. 24/24 pasan, cobertura 90 %. RF11 (exportar) y RF12 (WhatsApp) están planificados para el Sprint 4, no ejecutados.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Medido con Chromium y limitación de red vía CDP. Antes: FCP 2812 ms, 1.27 MB. Después: FCP 480 ms, 82 KB. Estrategias: minificación con esbuild, gzip/brotli, caché con ETag, bundle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completo en el informe (Cap. 11) y docs/MANUAL_DESPLIEGUE.md. Flujo: repositorio GitHub → New Blueprint (render.yaml) → variables de entorno → deploy → /api/health → login → cambiar contraseñas demo. Honestidad: la URL en Render y las capturas se completan con la cuenta del equipo; la imagen Docker no pudo construirse en el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demo: 1) login como Almacenero → registrar ingreso de un insumo y ver el semáforo; 2) como Jefe de producción → crear orden con vista previa de BOM y completarla; 3) como Gerente → dashboard y pronóstico; 4) como Administrador → usuarios y bitácora de auditoría. Mostrar la URL de Render cuando esté publicada.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de 18 semanas con meses y responsables. Estamos en el Sprint 3 (día 9 de 21). Sprints 1 y 2 completados. Retrospectiva y cierre del Sprint 3 siguen en Por hacer. Riesgos: R1 cambios de alcance es el de mayor nivel (12); R3, R5 y R10 críticos por impacto pero poco probables y mitigados.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de baja fidelidad y mockups de alta fidelidad (capturas reales de la app). KPIs: quiebres de stock, merma, cumplimiento de órdenes, precisión del pronóstico (MAPE). Observación: la tarjeta de merma muestra un valor de demostración (2.3 %) hasta registrar mermas reales. Enlace Figma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Jeaneli resume lo logrado y pendientes; invitar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A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Vástago &amp; Co · Integrador 2 · APF2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2E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89B3C"/>
                </a:solidFill>
              </a:rPr>
              <a:t>AVANCE DE PROYECTO FINAL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Web Inteligente de Producción e Inventarios para una empresa chocolatera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DCC3"/>
                </a:solidFill>
              </a:rPr>
              <a:t>Base de datos · Seguridad · Despliegue en la nube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27432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Jeaneli Caso Valenzuela · Product Owner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Arnold Lujan Aderiano · Scrum Master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Luis Matamoros Ylizarbe · Desarrollador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98F"/>
                </a:solidFill>
              </a:rPr>
              <a:t>Vástago &amp; Co · Integrador 2 · UTP · Docente: Yovana Roca Ávila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de la sustentación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Todos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60020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Jeaneli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C"/>
                </a:solidFill>
              </a:rPr>
              <a:t>Product Owner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Levantamiento de observaciones APF1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Problema, AS-IS / TO-BE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Prototipos, KPIs y backlog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Plan de pruebas y pruebas UAT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60020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Arnold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C"/>
                </a:solidFill>
              </a:rPr>
              <a:t>Scrum Master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Diseño físico de BD y script SQL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Replicación, respaldo y monitoreo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Autenticación, controles y cifrado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Pruebas de seguridad y despliegue Render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46720" y="1371600"/>
            <a:ext cx="3520440" cy="4754880"/>
          </a:xfrm>
          <a:prstGeom prst="roundRect">
            <a:avLst>
              <a:gd name="adj" fmla="val 2597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600200"/>
            <a:ext cx="777240" cy="777240"/>
          </a:xfrm>
          <a:prstGeom prst="ellipse">
            <a:avLst/>
          </a:prstGeom>
          <a:solidFill>
            <a:srgbClr val="7A4B35"/>
          </a:solidFill>
          <a:ln w="12700">
            <a:solidFill>
              <a:srgbClr val="7A4B3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Luis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C"/>
                </a:solidFill>
              </a:rPr>
              <a:t>Desarrollador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7432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Arquitectura y patrón Repository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Módulos de inventario, producción e 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Optimización WPO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Pruebas automáticas y demo en vivo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A5C"/>
                </a:solidFill>
              </a:rPr>
              <a:t>Reparto propuesto según las responsabilidades del cronograma; el equipo puede reasignarlo.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Levantamiento de las observaciones del APF1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Jeaneli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Problemática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Reescrita: síntomas, árbol de causas, objetivos SMART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1.1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280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4173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34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AS-IS y TO-BE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Diagramas por carriles con problemas P1–P5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1.6–1.7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1280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83880" y="14173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83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Figuras y tablas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Numeradas, con título, descripción y fuente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Todo el informe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29718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3081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Gantt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Meses, semanas, sprints y responsables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2.3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97680" y="29718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34840" y="310896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348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3081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Kanban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Retro y cierre del Sprint 3 en «Por hacer»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44805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2.6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046720" y="29718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83880" y="310896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838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8778240" y="3081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Épicas e HU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822960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Análisis de medio: WhatsApp Business + correo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2.7–2.8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6634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5800" y="48006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280160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Herramientas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73152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Configuración con comandos y salidas reales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73152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3.2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297680" y="46634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34840" y="48006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4348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5029200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Prototipos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448056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Título, descripción y fuente en cada figura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448056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4.1–4.2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046720" y="46634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183880" y="48006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1838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8778240" y="4773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Tabla de KPIs</a:t>
            </a:r>
            <a:endParaRPr lang="en-US" sz="1800" dirty="0"/>
          </a:p>
        </p:txBody>
      </p:sp>
      <p:sp>
        <p:nvSpPr>
          <p:cNvPr id="58" name="Text 55"/>
          <p:cNvSpPr txBox="1"/>
          <p:nvPr/>
        </p:nvSpPr>
        <p:spPr>
          <a:xfrm>
            <a:off x="822960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Dividida en 3 tablas legibles, 9 pt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822960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Sec. 6.1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y modelo propuesto (TO-BE)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Jeaneli</a:t>
            </a:r>
            <a:endParaRPr lang="en-US" sz="1400" dirty="0"/>
          </a:p>
        </p:txBody>
      </p:sp>
      <p:pic>
        <p:nvPicPr>
          <p:cNvPr id="6" name="Image 0" descr="Proceso TO-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4177"/>
            <a:ext cx="7498080" cy="380972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844177"/>
            <a:ext cx="7498080" cy="3809726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183880" y="12801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E9E7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21040" y="13533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</a:rPr>
              <a:t>Antes (AS-IS)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78308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Conteo semanal manual, cuaderno/Excel, compra urgente con sobrecosto y producción «por experiencia».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183880" y="3703320"/>
            <a:ext cx="3611880" cy="2560320"/>
          </a:xfrm>
          <a:prstGeom prst="roundRect">
            <a:avLst>
              <a:gd name="adj" fmla="val 2857"/>
            </a:avLst>
          </a:prstGeom>
          <a:solidFill>
            <a:srgbClr val="E8F3EC"/>
          </a:solidFill>
          <a:ln w="12700">
            <a:solidFill>
              <a:srgbClr val="B5D8C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37764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</a:rPr>
              <a:t>Con el sistema (TO-BE)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4206240"/>
            <a:ext cx="3337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Stock en tiempo real, alertas de mínimos, orden con vista previa de insumos (BOM), pronóstico de 3 meses y trazabilidad por 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7A4B35"/>
          </a:solidFill>
          <a:ln w="12700">
            <a:solidFill>
              <a:srgbClr val="7A4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</a:t>
            </a:r>
            <a:endParaRPr lang="en-US" sz="1400" dirty="0"/>
          </a:p>
        </p:txBody>
      </p:sp>
      <p:pic>
        <p:nvPicPr>
          <p:cNvPr id="6" name="Image 0" descr="Arquitectura por ca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5535"/>
            <a:ext cx="4754880" cy="513272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205535"/>
            <a:ext cx="4754880" cy="5132729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77840" y="1353312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7784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React 19 + esbuild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16642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SPA con menú filtrado por rol; el token de acceso vive solo en memoria.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577840" y="2340864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778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22677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Flask 3 + gunicorn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2651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API REST con validación, límites de tasa y cabeceras de seguridad.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577840" y="3328416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5778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0" y="32552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Repository + Unit of Work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126480" y="3639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SQL parametrizado y transacciones atómicas; un repositorio por agregado.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577840" y="4315968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5778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126480" y="42428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PostgreSQL 16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126480" y="462686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Trigger de stock, vista de semáforo y auditoría inmutable.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577840" y="5303520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5778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126480" y="5230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2"/>
                </a:solidFill>
              </a:rPr>
              <a:t>Docker + Render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126480" y="56144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Imagen multi-etapa y Blueprint (render.yaml) para el primer despliegue.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físico de la base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pic>
        <p:nvPicPr>
          <p:cNvPr id="6" name="Image 0" descr="Modelo físico 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954" y="1188720"/>
            <a:ext cx="5489852" cy="5166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6954" y="1188720"/>
            <a:ext cx="5489852" cy="516636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tablas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columnas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1234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10332720" y="2057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claves foráneas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28803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Integridad en la BD: CHECK (stock ≥ 0), claves foráneas y restricciones de dominio.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Trigger que aplica cada movimiento al stock de forma atómica.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Vista v_inventario con el semáforo ok / warn / crit.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Teléfono cifrado (AES-256-GCM) y bitácora de auditoría de solo anexado.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Consistencia verificada: script SQL ≡ base real ≡ diagrama.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Patrón de acceso a datos: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7A4B35"/>
          </a:solidFill>
          <a:ln w="12700">
            <a:solidFill>
              <a:srgbClr val="7A4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</a:t>
            </a:r>
            <a:endParaRPr lang="en-US" sz="1400" dirty="0"/>
          </a:p>
        </p:txBody>
      </p:sp>
      <p:pic>
        <p:nvPicPr>
          <p:cNvPr id="6" name="Image 0" descr="Diagrama de clases del patrón Reposi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43077"/>
            <a:ext cx="6949440" cy="40119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743077"/>
            <a:ext cx="6949440" cy="4011925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80960" y="128016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18120" y="1353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¿Por qué Repository?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Separa SQL de la lógica, permite pruebas y deja un único lugar para cada consulta.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80960" y="29260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2999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Seguridad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Consultas siempre parametrizadas: sin concatenar texto del usuario (prueba de inyección SQL superada).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80960" y="45720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18120" y="4645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Transacciones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074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transaction() abre una unidad de trabajo: o se guardan movimiento, stock y auditoría juntos, o ninguno.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Administración, replicación y respaldo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pic>
        <p:nvPicPr>
          <p:cNvPr id="6" name="Image 0" descr="Arquitectura de replic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5" y="1188720"/>
            <a:ext cx="7770489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bytes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retraso de replicación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restauración: filas originales = restauradas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99.92 %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aciertos de caché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5256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deadlocks registrados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02920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074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</a:rPr>
              <a:t>Alcance honesto: </a:t>
            </a:r>
            <a:pPr indent="0" marL="0">
              <a:buNone/>
            </a:pPr>
            <a:r>
              <a:rPr lang="en-US" sz="1500" dirty="0">
                <a:solidFill>
                  <a:srgbClr val="3B2A20"/>
                </a:solidFill>
              </a:rPr>
              <a:t>la réplica y el failover se demostraron en el entorno local. En Render (plan gratuito) se usará el respaldo programado; la réplica de lectura depende de un plan de pago.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 y autorización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pic>
        <p:nvPicPr>
          <p:cNvPr id="6" name="Image 0" descr="Secuencia de autentic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0819"/>
            <a:ext cx="6035040" cy="447644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510819"/>
            <a:ext cx="6035040" cy="4476441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766560" y="1280160"/>
            <a:ext cx="5029200" cy="1170432"/>
          </a:xfrm>
          <a:prstGeom prst="roundRect">
            <a:avLst>
              <a:gd name="adj" fmla="val 6250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03720" y="1353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C1F"/>
                </a:solidFill>
              </a:rPr>
              <a:t>bcrypt (costo 12)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178308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Contraseñas nunca en claro; política mínima y mensaje de error genérico.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66560" y="2560320"/>
            <a:ext cx="5029200" cy="1170432"/>
          </a:xfrm>
          <a:prstGeom prst="roundRect">
            <a:avLst>
              <a:gd name="adj" fmla="val 6250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03720" y="2633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C1F"/>
                </a:solidFill>
              </a:rPr>
              <a:t>JWT 15 min + refresh rotatorio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306324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Cookie HttpOnly, SameSite=Strict y cabecera anti-CSRF.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66560" y="3840480"/>
            <a:ext cx="5029200" cy="1170432"/>
          </a:xfrm>
          <a:prstGeom prst="roundRect">
            <a:avLst>
              <a:gd name="adj" fmla="val 6250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03720" y="3913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C1F"/>
                </a:solidFill>
              </a:rPr>
              <a:t>Bloqueo y límite de tasa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434340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5 intentos fallidos → bloqueo; 429 al exceder el límite.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766560" y="5120640"/>
            <a:ext cx="5029200" cy="1170432"/>
          </a:xfrm>
          <a:prstGeom prst="roundRect">
            <a:avLst>
              <a:gd name="adj" fmla="val 6250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03720" y="5193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C1F"/>
                </a:solidFill>
              </a:rPr>
              <a:t>RBAC de 4 roles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903720" y="562356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</a:rPr>
              <a:t>Administrador, Gerente, Jefe de producción y Almacenero.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 de controles y cifrado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4937760" y="12801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7492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Confidencialidad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074920" y="17830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AES-256-GCM en el teléfono; TLS en tránsito; hash bcrypt y SHA-256 del refresh; SCRAM-SHA-256 en la BD.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412480" y="12801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4964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Integridad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549640" y="17830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JWT con firma fijada; etiqueta GCM; restricciones CHECK y claves foráneas; consultas parametrizadas.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37760" y="37947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7492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Trazabilidad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074920" y="42976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Bitácora de auditoría de solo anexado (trigger bloquea UPDATE/DELETE): quién, qué, cuándo, desde dónde.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12480" y="37947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54964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Mejoras reconocidas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549640" y="42976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Bloquear TRUNCATE en auditoría, limitar contraseñas a 72 bytes y revocar la cadena de sesiones al detectar reutilización.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de seguridad web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25880"/>
          <a:ext cx="6126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Hallazgo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Herramienta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Cabecera Server expone versión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nikto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Corregido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ETag filtra el inodo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nikto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Corregido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robots.txt devolvía la SPA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nikto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Corregido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PyJWT 2.14.0 con CVE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pip-audit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Actualizado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Inyección SQL en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sqlmap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2A20"/>
                          </a:solidFill>
                        </a:rPr>
                        <a:t>No vulnerable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548640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A5C"/>
                </a:solidFill>
              </a:rPr>
              <a:t>Herramientas: nmap · nikto · sqlmap · bandit · pip-audit · npm audit · pentest_manual.py (OWASP)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Validación: plan y resultados de pruebas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Jeaneli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24/24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pruebas automáticas superadas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cobertura de código (pytest-cov)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2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casos en el plan de pruebas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RF planificados (S4)</a:t>
            </a:r>
            <a:endParaRPr lang="en-US" sz="1300" dirty="0"/>
          </a:p>
        </p:txBody>
      </p:sp>
      <p:pic>
        <p:nvPicPr>
          <p:cNvPr id="14" name="Image 0" descr="Resultados de pen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57067"/>
            <a:ext cx="5486400" cy="212130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" y="3557067"/>
            <a:ext cx="5486400" cy="2121306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09360" y="30175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Pirámide: unitarias e integración (pytest), seguridad, rendimiento (WPO) y aceptación manual por rol.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Matriz de trazabilidad: cada requerimiento tiene al menos un caso.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Defectos hallados y corregidos durante las pruebas (p. ej. fallos de login sin auditoría por rollback).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Casos que dependen de la nube quedan en estado PENDIENTE hasta el despliegue.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 rendimiento web (WPO)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7A4B35"/>
          </a:solidFill>
          <a:ln w="12700">
            <a:solidFill>
              <a:srgbClr val="7A4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22376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−83 %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tiempo al primer contenido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50976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−94 %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95097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bytes transferidos (1.27 MB → 82 KB)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1089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Minificación del bundle con esbuild.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Compresión gzip/brotli con Flask-Compress.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Caché de estáticos con ETag.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</a:rPr>
              <a:t>Un solo bundle y pool de conexiones a la BD.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Despliegue en la nube con Render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Arnold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Repositorio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GitHub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21992" y="1993392"/>
            <a:ext cx="182880" cy="310896"/>
          </a:xfrm>
          <a:prstGeom prst="rightArrow">
            <a:avLst/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2316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New Blueprint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(render.yaml)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42232" y="1993392"/>
            <a:ext cx="182880" cy="310896"/>
          </a:xfrm>
          <a:prstGeom prst="rightArrow">
            <a:avLst/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Variables de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entorno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062472" y="1993392"/>
            <a:ext cx="182880" cy="310896"/>
          </a:xfrm>
          <a:prstGeom prst="rightArrow">
            <a:avLst/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Build Docker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+ BD gestionada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982712" y="1993392"/>
            <a:ext cx="182880" cy="310896"/>
          </a:xfrm>
          <a:prstGeom prst="rightArrow">
            <a:avLst/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Verificar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1B12"/>
                </a:solidFill>
              </a:rPr>
              <a:t>/api/health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9902952" y="1993392"/>
            <a:ext cx="182880" cy="310896"/>
          </a:xfrm>
          <a:prstGeom prst="rightArrow">
            <a:avLst/>
          </a:prstGeom>
          <a:solidFill>
            <a:srgbClr val="4A2C1F"/>
          </a:solidFill>
          <a:ln w="12700">
            <a:solidFill>
              <a:srgbClr val="4A2C1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04120" y="1463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E7D4F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104120" y="1463040"/>
            <a:ext cx="16916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 y cambio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claves demo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8640" y="33832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8F3EC"/>
          </a:solidFill>
          <a:ln w="12700">
            <a:solidFill>
              <a:srgbClr val="B5D8C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</a:rPr>
              <a:t>Listo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388620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Dockerfile multi-etapa, render.yaml (BD gestionada + servicio web), CI en GitHub Actions y manual paso a paso.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43400" y="33832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AF3E7"/>
          </a:solidFill>
          <a:ln w="12700">
            <a:solidFill>
              <a:srgbClr val="E4DED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80560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Verificado en local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480560" y="388620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Smoke tests en modo producción: /api/health, login, cabeceras, compresión y HSTS.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138160" y="33832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75320" y="3456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C1F"/>
                </a:solidFill>
              </a:rPr>
              <a:t>Pendiente (equipo)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388620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2A20"/>
                </a:solidFill>
              </a:rPr>
              <a:t>URL pública en Render y capturas del sistema en la nube; repetir el pentest sobre esa URL.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Demostración del sistema en ejecución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7A4B35"/>
          </a:solidFill>
          <a:ln w="12700">
            <a:solidFill>
              <a:srgbClr val="7A4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Luis</a:t>
            </a:r>
            <a:endParaRPr lang="en-US" sz="1400" dirty="0"/>
          </a:p>
        </p:txBody>
      </p:sp>
      <p:pic>
        <p:nvPicPr>
          <p:cNvPr id="6" name="Image 0" descr="Dashboard geren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789" y="1097280"/>
            <a:ext cx="3696101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43789" y="1097280"/>
            <a:ext cx="3696101" cy="219456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Dashboard gerencial</a:t>
            </a:r>
            <a:endParaRPr lang="en-US" sz="1300" dirty="0"/>
          </a:p>
        </p:txBody>
      </p:sp>
      <p:pic>
        <p:nvPicPr>
          <p:cNvPr id="9" name="Image 1" descr="Inventario con semáfo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069" y="1097280"/>
            <a:ext cx="3696101" cy="21945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113069" y="1097280"/>
            <a:ext cx="3696101" cy="219456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21792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Inventario con semáforo</a:t>
            </a:r>
            <a:endParaRPr lang="en-US" sz="1300" dirty="0"/>
          </a:p>
        </p:txBody>
      </p:sp>
      <p:pic>
        <p:nvPicPr>
          <p:cNvPr id="12" name="Image 2" descr="Pronóstico con 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9" y="3611880"/>
            <a:ext cx="3696101" cy="21945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443789" y="3611880"/>
            <a:ext cx="3696101" cy="219456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5824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Pronóstico con IA</a:t>
            </a:r>
            <a:endParaRPr lang="en-US" sz="1300" dirty="0"/>
          </a:p>
        </p:txBody>
      </p:sp>
      <p:pic>
        <p:nvPicPr>
          <p:cNvPr id="15" name="Image 3" descr="Bitácora de auditorí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069" y="3611880"/>
            <a:ext cx="3696101" cy="219456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113069" y="3611880"/>
            <a:ext cx="3696101" cy="219456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217920" y="5824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Bitácora de auditoría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61996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</a:rPr>
              <a:t>[PENDIENTE: URL pública en Render — mostrar la aplicación en la nube durante la defensa]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del proyecto: cronograma y avance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Jeaneli</a:t>
            </a:r>
            <a:endParaRPr lang="en-US" sz="1400" dirty="0"/>
          </a:p>
        </p:txBody>
      </p:sp>
      <p:pic>
        <p:nvPicPr>
          <p:cNvPr id="6" name="Image 0" descr="Diagrama de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3133"/>
            <a:ext cx="7498080" cy="455181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473133"/>
            <a:ext cx="7498080" cy="4551815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0" y="12801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667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9281160" y="1371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B12"/>
                </a:solidFill>
              </a:rPr>
              <a:t>Análisis y backlog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Completado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0" y="25146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667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928116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B12"/>
                </a:solidFill>
              </a:rPr>
              <a:t>Prototipos y diseño de BD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Completado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37490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3840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9281160" y="3840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B12"/>
                </a:solidFill>
              </a:rPr>
              <a:t>BD, seguridad, despliegue v1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</a:rPr>
              <a:t>En curso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29600" y="49834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AF3E7"/>
          </a:solidFill>
          <a:ln w="25400">
            <a:solidFill>
              <a:srgbClr val="7A6A5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6676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6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S4–S6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9281160" y="5074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B12"/>
                </a:solidFill>
              </a:rPr>
              <a:t>KPIs, alertas, IA, cierre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6A5C"/>
                </a:solidFill>
              </a:rPr>
              <a:t>Por hacer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Prototipos y KPIs del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274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Jeaneli</a:t>
            </a:r>
            <a:endParaRPr lang="en-US" sz="1400" dirty="0"/>
          </a:p>
        </p:txBody>
      </p:sp>
      <p:pic>
        <p:nvPicPr>
          <p:cNvPr id="6" name="Image 0" descr="Wirefram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3030"/>
            <a:ext cx="3657600" cy="2171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383030"/>
            <a:ext cx="3657600" cy="217170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pic>
        <p:nvPicPr>
          <p:cNvPr id="8" name="Image 1" descr="Mockup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83030"/>
            <a:ext cx="3657600" cy="21717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97680" y="1383030"/>
            <a:ext cx="3657600" cy="2171700"/>
          </a:xfrm>
          <a:prstGeom prst="rect">
            <a:avLst/>
          </a:prstGeom>
          <a:ln w="12700">
            <a:solidFill>
              <a:srgbClr val="E4DED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Wireframe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297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1F"/>
                </a:solidFill>
              </a:rPr>
              <a:t>Mockup de alta fidelidad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50876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C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Quiebres de stock / mes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insumos, v_inventario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Cumplimiento de órdenes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ordenes_produccion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≥ 90 %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Merma de producción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movimientos_inventario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≤ 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Precisión del pronóstico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pronosticos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2A20"/>
                          </a:solidFill>
                        </a:rPr>
                        <a:t>MAPE ≤ 10 %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E7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457200" y="4297680"/>
            <a:ext cx="11338560" cy="1920240"/>
          </a:xfrm>
          <a:prstGeom prst="roundRect">
            <a:avLst>
              <a:gd name="adj" fmla="val 3810"/>
            </a:avLst>
          </a:prstGeom>
          <a:solidFill>
            <a:srgbClr val="FFF4CC"/>
          </a:solidFill>
          <a:ln w="12700">
            <a:solidFill>
              <a:srgbClr val="E8D48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40080" y="43891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B2A20"/>
                </a:solidFill>
              </a:rPr>
              <a:t>Enlace del diseño: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20"/>
                </a:solidFill>
              </a:rPr>
              <a:t>[PENDIENTE: pegar enlace de Figma]  ·  Los archivos fuente de wireframes y mockups están en docs/build/assets del repositorio.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B2A20"/>
                </a:solidFill>
              </a:rPr>
              <a:t>Principios aplicados: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20"/>
                </a:solidFill>
              </a:rPr>
              <a:t>heurísticas de Nielsen, semáforo de estado, menú por rol y contraste de color verificado (WCAG).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logrado y lo que sigue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C89B3C"/>
                </a:solidFill>
              </a:rPr>
              <a:t>Logrado en el APF2: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BD PostgreSQL con replicación y respaldo · patrón Repository · autenticación con roles · cifrado y auditoría · 24/24 pruebas · pentest corregido · rendimiento −83 %.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C89B3C"/>
                </a:solidFill>
              </a:rPr>
              <a:t>Pendiente del equipo: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URL y capturas en Render · enlace Figma · pentest sobre la nube.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C89B3C"/>
                </a:solidFill>
              </a:rPr>
              <a:t>Próximos sprints: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alertas por WhatsApp Business y correo, exportación de reportes, afinar el modelo de IA.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DC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 · Preguntas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stago Cacao">
  <a:themeElements>
    <a:clrScheme name="Vastago Cacao">
      <a:dk1>
        <a:srgbClr val="2E1B12"/>
      </a:dk1>
      <a:lt1>
        <a:srgbClr val="FFFFFF"/>
      </a:lt1>
      <a:dk2>
        <a:srgbClr val="4A2C1F"/>
      </a:dk2>
      <a:lt2>
        <a:srgbClr val="FAF3E7"/>
      </a:lt2>
      <a:accent1>
        <a:srgbClr val="C89B3C"/>
      </a:accent1>
      <a:accent2>
        <a:srgbClr val="2E7D4F"/>
      </a:accent2>
      <a:accent3>
        <a:srgbClr val="B3261E"/>
      </a:accent3>
      <a:accent4>
        <a:srgbClr val="7A4B35"/>
      </a:accent4>
      <a:accent5>
        <a:srgbClr val="8A6D3B"/>
      </a:accent5>
      <a:accent6>
        <a:srgbClr val="E4DED2"/>
      </a:accent6>
      <a:hlink>
        <a:srgbClr val="7A4B35"/>
      </a:hlink>
      <a:folHlink>
        <a:srgbClr val="4A2C1F"/>
      </a:folHlink>
    </a:clrScheme>
    <a:fontScheme name="Vastago Caca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APF2 — Vástago &amp; Co</dc:title>
  <dc:subject>PptxGenJS Presentation</dc:subject>
  <dc:creator>Equipo Vástago &amp; Co</dc:creator>
  <cp:lastModifiedBy>Equipo Vástago &amp; Co</cp:lastModifiedBy>
  <cp:revision>1</cp:revision>
  <dcterms:created xsi:type="dcterms:W3CDTF">2026-10-06T01:46:25Z</dcterms:created>
  <dcterms:modified xsi:type="dcterms:W3CDTF">2026-10-06T01:46:25Z</dcterms:modified>
</cp:coreProperties>
</file>